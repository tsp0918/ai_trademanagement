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AI Trade Management Platform  —  Demo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輸出管理 AI デモシナリオ解説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CD6E8"/>
                </a:solidFill>
              </a:rPr>
              <a:t>実業務シナリオで体感する — 審査フローと AI 判定の連携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2377440" cy="1371600"/>
          </a:xfrm>
          <a:prstGeom prst="rect">
            <a:avLst/>
          </a:prstGeom>
          <a:solidFill>
            <a:srgbClr val="FFAD2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</a:rPr>
              <a:t>SCENARIO 01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DE68A"/>
                </a:solidFill>
              </a:rPr>
              <a:t>R&amp;D 対中リスク起案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</a:rPr>
              <a:t>rnd_assessment  :8003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743200"/>
            <a:ext cx="2377440" cy="1371600"/>
          </a:xfrm>
          <a:prstGeom prst="rect">
            <a:avLst/>
          </a:prstGeom>
          <a:solidFill>
            <a:srgbClr val="397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8346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2563EB"/>
                </a:solidFill>
              </a:rPr>
              <a:t>SCENARIO 02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BFDBFE"/>
                </a:solidFill>
              </a:rPr>
              <a:t>CMP スラリー HS 付番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</a:rPr>
              <a:t>ai_classification :8002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743200"/>
            <a:ext cx="2377440" cy="1371600"/>
          </a:xfrm>
          <a:prstGeom prst="rect">
            <a:avLst/>
          </a:prstGeom>
          <a:solidFill>
            <a:srgbClr val="2AB268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8346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6A34A"/>
                </a:solidFill>
              </a:rPr>
              <a:t>SCENARIO 03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BBF7D0"/>
                </a:solidFill>
              </a:rPr>
              <a:t>半導体メモリ キャッチオール審査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</a:rPr>
              <a:t>ai_validation :8001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2026-03-21  |  AI_TradeManagement v1.0  |  For Demo Use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A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</a:rPr>
              <a:t>SCENARIO  01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FDE68A"/>
                </a:solidFill>
              </a:rPr>
              <a:t>R&amp;D 案件起案 — 対中国リスク半導体共同研究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82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</a:rPr>
              <a:t>rnd_assessment
:8003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281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</a:rPr>
              <a:t>▌ プロジェクト概要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23444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CCD6E8"/>
                </a:solidFill>
              </a:rPr>
              <a:t>案件名: 次世代3nm FinFET プロセス開発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CCD6E8"/>
                </a:solidFill>
              </a:rPr>
              <a:t>相手方: 深圳半導体先端研究院（SSARI）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CCD6E8"/>
                </a:solidFill>
              </a:rPr>
              <a:t>開示技術: CMPレシピ・装置制御アルゴリズム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DE68A"/>
                </a:solidFill>
              </a:rPr>
              <a:t>対象ECCN: 3B001（半導体製造装置）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DE68A"/>
                </a:solidFill>
              </a:rPr>
              <a:t>外為法: EL-3（電子部品・集積回路）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34640"/>
            <a:ext cx="4114800" cy="1508760"/>
          </a:xfrm>
          <a:prstGeom prst="rect">
            <a:avLst/>
          </a:prstGeom>
          <a:solidFill>
            <a:srgbClr val="281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</a:rPr>
              <a:t>▌ みなし輸出 登録人物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136392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王 建国（WANG Jianguo）/ SSARI 材料科学部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FCA5A5"/>
                </a:solidFill>
              </a:rPr>
              <a:t>国籍: CN  ｜  二重雇用: COSTIND系機関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FCA5A5"/>
                </a:solidFill>
              </a:rPr>
              <a:t>ECCN 3B001 アクセス  ｜  カテゴリ A（要許可）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FDE68A"/>
                </a:solidFill>
              </a:rPr>
              <a:t>日本在留年数: 0年  ｜  MCF政策下機関所属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914400"/>
            <a:ext cx="4114800" cy="1097280"/>
          </a:xfrm>
          <a:prstGeom prst="rect">
            <a:avLst/>
          </a:prstGeom>
          <a:solidFill>
            <a:srgbClr val="201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9601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</a:rPr>
              <a:t>▌ 操作フロー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216152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CCD6E8"/>
                </a:solidFill>
              </a:rPr>
              <a:t>① 案件情報入力  →  ② AI リスク評価実行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CCD6E8"/>
                </a:solidFill>
              </a:rPr>
              <a:t>③ みなし輸出人物登録  →  ④ 判定結果確認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103120"/>
            <a:ext cx="4114800" cy="1463040"/>
          </a:xfrm>
          <a:prstGeom prst="rect">
            <a:avLst/>
          </a:prstGeom>
          <a:solidFill>
            <a:srgbClr val="201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21488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</a:rPr>
              <a:t>▌ AI 評価結果（期待値）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404872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CA5A5"/>
                </a:solidFill>
              </a:rPr>
              <a:t>技術リスク: ██ HIGH（3nm FinFET = 先端プロセス）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CA5A5"/>
                </a:solidFill>
              </a:rPr>
              <a:t>需要者リスク: ██ HIGH（MCF機関・軍民融合）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CA5A5"/>
                </a:solidFill>
              </a:rPr>
              <a:t>規制リスク: ██ HIGH（CN = D:1/D:3/D:4/D:5）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657600"/>
            <a:ext cx="4114800" cy="594360"/>
          </a:xfrm>
          <a:prstGeom prst="rect">
            <a:avLst/>
          </a:prstGeom>
          <a:solidFill>
            <a:srgbClr val="3B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74903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CA5A5"/>
                </a:solidFill>
              </a:rPr>
              <a:t>総合判定:  HIGH RISK — 経済産業大臣許可申請 推奨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43400"/>
            <a:ext cx="8503920" cy="457200"/>
          </a:xfrm>
          <a:prstGeom prst="rect">
            <a:avLst/>
          </a:prstGeom>
          <a:solidFill>
            <a:srgbClr val="1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4074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DE68A"/>
                </a:solidFill>
              </a:rPr>
              <a:t>👔 DAP 先輩担当者: 「スクリーニング未実施です。品目管理連携前に取引先照合を実施してください (http://localhost:8005)」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2744"/>
                </a:solidFill>
              </a:rPr>
              <a:t>AI_TradeManagement  —  Demo Scenario 01  |  http://localhost:8003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2563EB"/>
                </a:solidFill>
              </a:rPr>
              <a:t>SCENARIO  02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BFDBFE"/>
                </a:solidFill>
              </a:rPr>
              <a:t>品目登録 — CMPスラリーのHSコード付番 &amp; EAR判定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82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ai_classification
:8002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4206240" cy="548640"/>
          </a:xfrm>
          <a:prstGeom prst="rect">
            <a:avLst/>
          </a:prstGeom>
          <a:solidFill>
            <a:srgbClr val="06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</a:rPr>
              <a:t>▌ 品目情報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FDBFE"/>
                </a:solidFill>
              </a:rPr>
              <a:t>CMPスラリー（3nm向け シリカ系）  |  HS 3824.99  |  ECCN 1C350（推定）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4206240" cy="2743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7276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BFDBFE"/>
                </a:solidFill>
              </a:rPr>
              <a:t>  原料名              原産国   含有量   ECCN     注意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28800"/>
            <a:ext cx="4206240" cy="320040"/>
          </a:xfrm>
          <a:prstGeom prst="rect">
            <a:avLst/>
          </a:prstGeom>
          <a:solidFill>
            <a:srgbClr val="3B2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7451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DE68A"/>
                </a:solidFill>
              </a:rPr>
              <a:t>  コロイダルシリカ（Cabot）            US    25.0%   EAR99     ⚠ de minimis超過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76272"/>
            <a:ext cx="4206240" cy="320040"/>
          </a:xfrm>
          <a:prstGeom prst="rect">
            <a:avLst/>
          </a:prstGeom>
          <a:solidFill>
            <a:srgbClr val="30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22199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CA5A5"/>
                </a:solidFill>
              </a:rPr>
              <a:t>  過酸化水素30%（三菱ガス）             JP     5.0%   1C350     ⚠ CWC物質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23744"/>
            <a:ext cx="4206240" cy="320040"/>
          </a:xfrm>
          <a:prstGeom prst="rect">
            <a:avLst/>
          </a:prstGeom>
          <a:solidFill>
            <a:srgbClr val="08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56946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8"/>
                </a:solidFill>
              </a:rPr>
              <a:t>  ポリアクリル酸（Lubrizol）          US     0.8%   EAR99     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71216"/>
            <a:ext cx="4206240" cy="3200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9169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CA5A5"/>
                </a:solidFill>
              </a:rPr>
              <a:t>  ベンゾトリアゾール（上海）              CN     0.1%   EAR99     中国産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18688"/>
            <a:ext cx="4206240" cy="320040"/>
          </a:xfrm>
          <a:prstGeom prst="rect">
            <a:avLst/>
          </a:prstGeom>
          <a:solidFill>
            <a:srgbClr val="06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2644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8"/>
                </a:solidFill>
              </a:rPr>
              <a:t>  超純水 UPW（自社製造）              JP    68.3%   N/A       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11880"/>
            <a:ext cx="4206240" cy="502920"/>
          </a:xfrm>
          <a:prstGeom prst="rect">
            <a:avLst/>
          </a:prstGeom>
          <a:solidFill>
            <a:srgbClr val="3B1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6576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DE68A"/>
                </a:solidFill>
              </a:rPr>
              <a:t>🚩 EAR de minimis 超過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CCD6E8"/>
                </a:solidFill>
              </a:rPr>
              <a:t>US原産品合計 25.8% &gt; 25%閾値 → 中国向け再輸出に EAR ライセンス審査必要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914400"/>
            <a:ext cx="4114800" cy="233172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9601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</a:rPr>
              <a:t>🤖  AI HSコード判定結果（期待値）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1234440"/>
            <a:ext cx="3840480" cy="347472"/>
          </a:xfrm>
          <a:prstGeom prst="rect">
            <a:avLst/>
          </a:prstGeom>
          <a:solidFill>
            <a:srgbClr val="0E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127101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FDBFE"/>
                </a:solidFill>
              </a:rPr>
              <a:t>#1  3824.99   Chemical preparations NEC       [1C350]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1627632"/>
            <a:ext cx="3840480" cy="347472"/>
          </a:xfrm>
          <a:prstGeom prst="rect">
            <a:avLst/>
          </a:prstGeom>
          <a:solidFill>
            <a:srgbClr val="081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16642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CD6E8"/>
                </a:solidFill>
              </a:rPr>
              <a:t>#2  2811.22   Silicon dioxide（シリカ）            [EAR99]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2020824"/>
            <a:ext cx="3840480" cy="347472"/>
          </a:xfrm>
          <a:prstGeom prst="rect">
            <a:avLst/>
          </a:prstGeom>
          <a:solidFill>
            <a:srgbClr val="081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0574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CD6E8"/>
                </a:solidFill>
              </a:rPr>
              <a:t>#3  3824.40   Prepared additives（調整剤）         [EAR99]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2414016"/>
            <a:ext cx="3840480" cy="347472"/>
          </a:xfrm>
          <a:prstGeom prst="rect">
            <a:avLst/>
          </a:prstGeom>
          <a:solidFill>
            <a:srgbClr val="081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CD6E8"/>
                </a:solidFill>
              </a:rPr>
              <a:t>#4  3824.50   Non-refractory mortars          [EAR99]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2807208"/>
            <a:ext cx="3840480" cy="347472"/>
          </a:xfrm>
          <a:prstGeom prst="rect">
            <a:avLst/>
          </a:prstGeom>
          <a:solidFill>
            <a:srgbClr val="081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284378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CD6E8"/>
                </a:solidFill>
              </a:rPr>
              <a:t>#5  2847.00   Hydrogen peroxide（参考）           [1C350]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3291840"/>
            <a:ext cx="4114800" cy="365760"/>
          </a:xfrm>
          <a:prstGeom prst="rect">
            <a:avLst/>
          </a:prstGeom>
          <a:solidFill>
            <a:srgbClr val="08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34670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FDBFE"/>
                </a:solidFill>
              </a:rPr>
              <a:t>✅  「反映」ボタン → HS 3824.99 + ECCN 1C350 を品目フォームへ一括書込み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3749039"/>
            <a:ext cx="4114800" cy="457200"/>
          </a:xfrm>
          <a:prstGeom prst="rect">
            <a:avLst/>
          </a:prstGeom>
          <a:solidFill>
            <a:srgbClr val="06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3794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2563EB"/>
                </a:solidFill>
              </a:rPr>
              <a:t>📎  BOM CSVファイル（別添）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CCD6E8"/>
                </a:solidFill>
              </a:rPr>
              <a:t>data/demo/cmp_slurry_bom.csv  —  7原料 全ECCN・HS記載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343400"/>
            <a:ext cx="8503920" cy="384048"/>
          </a:xfrm>
          <a:prstGeom prst="rect">
            <a:avLst/>
          </a:prstGeom>
          <a:solidFill>
            <a:srgbClr val="0A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3891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DE68A"/>
                </a:solidFill>
              </a:rPr>
              <a:t>👔 DAP: 「BOM-001 (コロイダルシリカ) が US 原産 25% です。EAR de minimis チェックを実施してください。」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AI_TradeManagement  —  Demo Scenario 02  |  http://localhost:8002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E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6A34A"/>
                </a:solidFill>
              </a:rPr>
              <a:t>SCENARIO  03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BBF7D0"/>
                </a:solidFill>
              </a:rPr>
              <a:t>輸出審査 — 半導体メモリ キャッチオール確認 &amp; 正規審査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</a:rPr>
              <a:t>ai_validation
:8001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4114800" cy="777240"/>
          </a:xfrm>
          <a:prstGeom prst="rect">
            <a:avLst/>
          </a:prstGeom>
          <a:solidFill>
            <a:srgbClr val="06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</a:rPr>
              <a:t>▌ 品目 &amp; 取引情報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188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CCD6E8"/>
                </a:solidFill>
              </a:rPr>
              <a:t>品目: LPDDR5 16Gb DRAM チップ（7nm世代）  /  HS 854232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CCD6E8"/>
                </a:solidFill>
              </a:rPr>
              <a:t>ECCN: 4A994 / 3A001  ｜  取引先: 深圳科技集団有限公司</a:t>
            </a:r>
          </a:p>
          <a:p>
            <a:pPr algn="l">
              <a:spcAft>
                <a:spcPts val="400"/>
              </a:spcAft>
            </a:pPr>
            <a:r>
              <a:rPr sz="950" b="1">
                <a:solidFill>
                  <a:srgbClr val="FCA5A5"/>
                </a:solidFill>
              </a:rPr>
              <a:t>仕向地: CN（新疆向け通信インフラプロジェクト）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4114800" cy="256032"/>
          </a:xfrm>
          <a:prstGeom prst="rect">
            <a:avLst/>
          </a:prstGeom>
          <a:solidFill>
            <a:srgbClr val="0A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1051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6A34A"/>
                </a:solidFill>
              </a:rPr>
              <a:t>⚖️  キャッチオール 6ステップ判定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84831"/>
            <a:ext cx="4114800" cy="320040"/>
          </a:xfrm>
          <a:prstGeom prst="rect">
            <a:avLst/>
          </a:prstGeom>
          <a:solidFill>
            <a:srgbClr val="06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30551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BBF7D0"/>
                </a:solidFill>
              </a:rPr>
              <a:t>Step 1  エンブレムト国チェック（E:1）                         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27732"/>
            <a:ext cx="4114800" cy="320040"/>
          </a:xfrm>
          <a:prstGeom prst="rect">
            <a:avLst/>
          </a:prstGeom>
          <a:solidFill>
            <a:srgbClr val="2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473451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FCA5A5"/>
                </a:solidFill>
              </a:rPr>
              <a:t>Step 2  ホワイト国チェック（A:1〜A:6）                        FAIL: CN 非該当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70632"/>
            <a:ext cx="4114800" cy="320040"/>
          </a:xfrm>
          <a:prstGeom prst="rect">
            <a:avLst/>
          </a:prstGeom>
          <a:solidFill>
            <a:srgbClr val="30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16351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FCA5A5"/>
                </a:solidFill>
              </a:rPr>
              <a:t>Step 3  EAR Country Chart（AT/CC列）照合               TRIGGERED 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13532"/>
            <a:ext cx="4114800" cy="320040"/>
          </a:xfrm>
          <a:prstGeom prst="rect">
            <a:avLst/>
          </a:prstGeom>
          <a:solidFill>
            <a:srgbClr val="2E1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9251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FDE68A"/>
                </a:solidFill>
              </a:rPr>
              <a:t>Step 4  Red Flag 7項目（軍用転用・新疆）                     FLAG ×3 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56432"/>
            <a:ext cx="4114800" cy="320040"/>
          </a:xfrm>
          <a:prstGeom prst="rect">
            <a:avLst/>
          </a:prstGeom>
          <a:solidFill>
            <a:srgbClr val="20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502151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FCA5A5"/>
                </a:solidFill>
              </a:rPr>
              <a:t>Step 5  総合スコアリング                                  Score: 78/100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99331"/>
            <a:ext cx="4114800" cy="320040"/>
          </a:xfrm>
          <a:prstGeom prst="rect">
            <a:avLst/>
          </a:prstGeom>
          <a:solidFill>
            <a:srgbClr val="38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845051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FCA5A5"/>
                </a:solidFill>
              </a:rPr>
              <a:t>Step 6  最終判定                                      REQUIRES_PERMIT 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914400"/>
            <a:ext cx="4206240" cy="256032"/>
          </a:xfrm>
          <a:prstGeom prst="rect">
            <a:avLst/>
          </a:prstGeom>
          <a:solidFill>
            <a:srgbClr val="06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941832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</a:rPr>
              <a:t>▌ AI 審査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59" y="1188720"/>
            <a:ext cx="658368" cy="594360"/>
          </a:xfrm>
          <a:prstGeom prst="rect">
            <a:avLst/>
          </a:prstGeom>
          <a:solidFill>
            <a:srgbClr val="06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1234440"/>
            <a:ext cx="6035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usage
expand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13248" y="1188720"/>
            <a:ext cx="658368" cy="594360"/>
          </a:xfrm>
          <a:prstGeom prst="rect">
            <a:avLst/>
          </a:prstGeom>
          <a:solidFill>
            <a:srgbClr val="0E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1234440"/>
            <a:ext cx="6035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F7D0"/>
                </a:solidFill>
              </a:rPr>
              <a:t>matrix_match
Layer 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17336" y="1188720"/>
            <a:ext cx="658368" cy="594360"/>
          </a:xfrm>
          <a:prstGeom prst="rect">
            <a:avLst/>
          </a:prstGeom>
          <a:solidFill>
            <a:srgbClr val="0E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1234440"/>
            <a:ext cx="6035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F7D0"/>
                </a:solidFill>
              </a:rPr>
              <a:t>dual_list
check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21423" y="1188720"/>
            <a:ext cx="658368" cy="594360"/>
          </a:xfrm>
          <a:prstGeom prst="rect">
            <a:avLst/>
          </a:prstGeom>
          <a:solidFill>
            <a:srgbClr val="06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5" y="1234440"/>
            <a:ext cx="6035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patent
retrieve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25512" y="1188720"/>
            <a:ext cx="658368" cy="594360"/>
          </a:xfrm>
          <a:prstGeom prst="rect">
            <a:avLst/>
          </a:prstGeom>
          <a:solidFill>
            <a:srgbClr val="0E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52944" y="1234440"/>
            <a:ext cx="6035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F7D0"/>
                </a:solidFill>
              </a:rPr>
              <a:t>catchall
assess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188720"/>
            <a:ext cx="658368" cy="594360"/>
          </a:xfrm>
          <a:prstGeom prst="rect">
            <a:avLst/>
          </a:prstGeom>
          <a:solidFill>
            <a:srgbClr val="0E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7031" y="1234440"/>
            <a:ext cx="6035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F7D0"/>
                </a:solidFill>
              </a:rPr>
              <a:t>finalize
report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1874519"/>
            <a:ext cx="4206240" cy="1508760"/>
          </a:xfrm>
          <a:prstGeom prst="rect">
            <a:avLst/>
          </a:prstGeom>
          <a:solidFill>
            <a:srgbClr val="2A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19202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CA5A5"/>
                </a:solidFill>
              </a:rPr>
              <a:t>🔴  REQUIRES_PERMIT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230428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CCD6E8"/>
                </a:solidFill>
              </a:rPr>
              <a:t>• 外為法 EL-3 該当 → 経済産業大臣許可申請必要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CCD6E8"/>
                </a:solidFill>
              </a:rPr>
              <a:t>• EAR AT列・CC列 トリガー → BIS ライセンス要</a:t>
            </a:r>
          </a:p>
          <a:p>
            <a:pPr algn="l">
              <a:spcAft>
                <a:spcPts val="400"/>
              </a:spcAft>
            </a:pPr>
            <a:r>
              <a:rPr sz="950" b="1">
                <a:solidFill>
                  <a:srgbClr val="FDE68A"/>
                </a:solidFill>
              </a:rPr>
              <a:t>• Red Flag: 軍用転用・新疆設置・MCF顧客 ×3件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FCA5A5"/>
                </a:solidFill>
              </a:rPr>
              <a:t>• 制裁リストスクリーニング: 実施必須（未完了警告）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474720"/>
            <a:ext cx="4206240" cy="594360"/>
          </a:xfrm>
          <a:prstGeom prst="rect">
            <a:avLst/>
          </a:prstGeom>
          <a:solidFill>
            <a:srgbClr val="06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35204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BF7D0"/>
                </a:solidFill>
              </a:rPr>
              <a:t>📄  PDF レポート出力（4章構成）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CCD6E8"/>
                </a:solidFill>
              </a:rPr>
              <a:t>Section 1: 品目概要  |  2: 外為法判定  |  3: デュアルリスト  |  4: キャッチオール詳細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343400"/>
            <a:ext cx="8503920" cy="384048"/>
          </a:xfrm>
          <a:prstGeom prst="rect">
            <a:avLst/>
          </a:prstGeom>
          <a:solidFill>
            <a:srgbClr val="18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3891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DE68A"/>
                </a:solidFill>
              </a:rPr>
              <a:t>👔 DAP: 「本案件は仕向地 CN / 新疆関連プロジェクトで高リスクです。取引先スクリーニング (http://localhost:8005) を先に実施してください。」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2744"/>
                </a:solidFill>
              </a:rPr>
              <a:t>AI_TradeManagement  —  Demo Scenario 03  |  http://localhost:8001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